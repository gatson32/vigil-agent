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 i="0">
                <a:solidFill>
                  <a:srgbClr val="FFFFFF"/>
                </a:solidFill>
                <a:latin typeface="Calibri"/>
              </a:defRPr>
            </a:pPr>
            <a:r>
              <a:t>VIGIL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2834640"/>
            <a:ext cx="18288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108960"/>
            <a:ext cx="8229600" cy="6400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 i="0">
                <a:solidFill>
                  <a:srgbClr val="00B4D8"/>
                </a:solidFill>
                <a:latin typeface="Calibri"/>
              </a:defRPr>
            </a:pPr>
            <a:r>
              <a:t>Trust Intelligence for the Agent Economy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931920"/>
            <a:ext cx="7315200" cy="9144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778DA9"/>
                </a:solidFill>
                <a:latin typeface="Calibri"/>
              </a:defRPr>
            </a:pPr>
            <a:r>
              <a:t>The first onchain credit bureau for AI agents.</a:t>
            </a:r>
            <a:br/>
            <a:r>
              <a:t>Continuous trust scoring. Predictive risk alerts.</a:t>
            </a:r>
            <a:br/>
            <a:r>
              <a:t>Ecosystem surveillance for Virtuals Protocol.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6080760"/>
            <a:ext cx="36576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15A77"/>
                </a:solidFill>
                <a:latin typeface="Calibri"/>
              </a:defRPr>
            </a:pPr>
            <a:r>
              <a:t>$VIGIL  |  Virtuals Protocol  |  Base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080760"/>
            <a:ext cx="45720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415A77"/>
                </a:solidFill>
                <a:latin typeface="Calibri"/>
              </a:defRPr>
            </a:pPr>
            <a:r>
              <a:t>March 2026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agent economy has no trust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200400" cy="29260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200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5603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00B4D8"/>
                </a:solidFill>
                <a:latin typeface="Calibri"/>
              </a:defRPr>
            </a:pPr>
            <a:r>
              <a:t>18,000+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256032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0C8D4"/>
                </a:solidFill>
                <a:latin typeface="Calibri"/>
              </a:defRPr>
            </a:pPr>
            <a:r>
              <a:t>Agents launched on</a:t>
            </a:r>
            <a:br/>
            <a:r>
              <a:t>Virtuals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25603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No standardized way to assess</a:t>
            </a:r>
            <a:br/>
            <a:r>
              <a:t>which ones are trustworthy.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00400" cy="29260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3200400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5603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EF476F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200400"/>
            <a:ext cx="256032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0C8D4"/>
                </a:solidFill>
                <a:latin typeface="Calibri"/>
              </a:defRPr>
            </a:pPr>
            <a:r>
              <a:t>Revenue decline in</a:t>
            </a:r>
            <a:br/>
            <a:r>
              <a:t>first 3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25603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Most agents die. Some are scams.</a:t>
            </a:r>
            <a:br/>
            <a:r>
              <a:t>Nobody was watching.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200400" cy="29260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20040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5603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D166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56032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C0C8D4"/>
                </a:solidFill>
                <a:latin typeface="Calibri"/>
              </a:defRPr>
            </a:pPr>
            <a:r>
              <a:t>Spent on trust</a:t>
            </a:r>
            <a:br/>
            <a:r>
              <a:t>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931920"/>
            <a:ext cx="25603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Zero systematic risk assessment</a:t>
            </a:r>
            <a:br/>
            <a:r>
              <a:t>for the entire ecosystem.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415A77"/>
                </a:solidFill>
                <a:latin typeface="Calibri"/>
              </a:defRPr>
            </a:pPr>
            <a:r>
              <a:t>"Trust is not declared — it is observed."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VIGIL: The onchain credit bureau for AI agents.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15544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4864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3891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B4D8"/>
                </a:solidFill>
                <a:latin typeface="Calibri"/>
              </a:defRPr>
            </a:pPr>
            <a:r>
              <a:t>24/7 Surveillance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3891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Monitors all agent wallets on Base chain for anomalous activity, ACP flows, and behavioral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029200" cy="15544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4864" cy="15544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3891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6D6A0"/>
                </a:solidFill>
                <a:latin typeface="Calibri"/>
              </a:defRPr>
            </a:pPr>
            <a:r>
              <a:t>Trust Scoring (VTS)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97480"/>
            <a:ext cx="43891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Every agent scored 0-100 across four dimensions. Continuously updated, not static snapshots.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029200" cy="15544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4864" cy="15544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60520"/>
            <a:ext cx="43891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EF476F"/>
                </a:solidFill>
                <a:latin typeface="Calibri"/>
              </a:defRPr>
            </a:pPr>
            <a:r>
              <a:t>Predictive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43891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Pattern recognition detects pre-rug behavior 24-72 hours before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31920"/>
            <a:ext cx="5029200" cy="155448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4864" cy="15544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160520"/>
            <a:ext cx="43891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D166"/>
                </a:solidFill>
                <a:latin typeface="Calibri"/>
              </a:defRPr>
            </a:pPr>
            <a:r>
              <a:t>Agent Autopsies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617720"/>
            <a:ext cx="438912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Post-mortem analysis when agents die. Builds institutional memory for the ecosystem.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415A77"/>
                </a:solidFill>
                <a:latin typeface="Calibri"/>
              </a:defRPr>
            </a:pPr>
            <a:r>
              <a:t>VIGIL does not trade. VIGIL does not shill. VIGIL watches, scores, and warns.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TRUST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VIGIL Trust Score: Four dimensions, one metric.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22860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18288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B4D8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20116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Wallet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01168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Age, balance stability,</a:t>
            </a:r>
            <a:br/>
            <a:r>
              <a:t>transaction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011680"/>
            <a:ext cx="2468880" cy="22860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2240280"/>
            <a:ext cx="18288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6D6A0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834640"/>
            <a:ext cx="20116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ACP Track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383280"/>
            <a:ext cx="201168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Completion rate, evaluator</a:t>
            </a:r>
            <a:br/>
            <a:r>
              <a:t>ratings, dispute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2468880" cy="22860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18288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D166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20116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Token Stability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201168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Holder distribution, liquidity</a:t>
            </a:r>
            <a:br/>
            <a:r>
              <a:t>depth, price volatility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11680"/>
            <a:ext cx="2468880" cy="22860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240280"/>
            <a:ext cx="18288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EF476F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834640"/>
            <a:ext cx="20116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Activity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383280"/>
            <a:ext cx="201168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Transaction frequency,</a:t>
            </a:r>
            <a:br/>
            <a:r>
              <a:t>social activity, 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7432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Risk Classification: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12080"/>
            <a:ext cx="109728" cy="3657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12080"/>
            <a:ext cx="18288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80-100  LOW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5212080"/>
            <a:ext cx="109728" cy="3657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5212080"/>
            <a:ext cx="18288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60-79  MODERATE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5212080"/>
            <a:ext cx="109728" cy="3657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5212080"/>
            <a:ext cx="18288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40-59  ELEVATED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5212080"/>
            <a:ext cx="109728" cy="3657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212080"/>
            <a:ext cx="18288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20-39  HIGH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5212080"/>
            <a:ext cx="109728" cy="365760"/>
          </a:xfrm>
          <a:prstGeom prst="rect">
            <a:avLst/>
          </a:prstGeom>
          <a:solidFill>
            <a:srgbClr val="E0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5212080"/>
            <a:ext cx="18288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0-19  CRITICAL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Seven detectors. Real-time pattern recognition.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50292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22860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Alert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84832"/>
            <a:ext cx="5486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Trigger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084832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10515600" cy="502920"/>
          </a:xfrm>
          <a:prstGeom prst="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87752"/>
            <a:ext cx="22860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RUG_PATTERN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87752"/>
            <a:ext cx="5486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0C8D4"/>
                </a:solidFill>
                <a:latin typeface="Calibri"/>
              </a:defRPr>
            </a:pPr>
            <a:r>
              <a:t>Wallet consolidation + LP removal + social silence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587752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F476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22860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LIQUIDITY_DRAIN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90672"/>
            <a:ext cx="5486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0C8D4"/>
                </a:solidFill>
                <a:latin typeface="Calibri"/>
              </a:defRPr>
            </a:pPr>
            <a:r>
              <a:t>&gt;50% LP removed in 24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090672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F476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10515600" cy="502920"/>
          </a:xfrm>
          <a:prstGeom prst="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93592"/>
            <a:ext cx="22860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LARGE_OUTFLOW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93592"/>
            <a:ext cx="5486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0C8D4"/>
                </a:solidFill>
                <a:latin typeface="Calibri"/>
              </a:defRPr>
            </a:pPr>
            <a:r>
              <a:t>Transfer &gt;30% of wallet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93592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D166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22860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HOLDER_CONCENTRATION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96512"/>
            <a:ext cx="5486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0C8D4"/>
                </a:solidFill>
                <a:latin typeface="Calibri"/>
              </a:defRPr>
            </a:pPr>
            <a:r>
              <a:t>Top wallet holds &gt;40% of supply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096512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D166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26280"/>
            <a:ext cx="10515600" cy="502920"/>
          </a:xfrm>
          <a:prstGeom prst="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99432"/>
            <a:ext cx="22860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AGENT_DEATH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599432"/>
            <a:ext cx="5486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0C8D4"/>
                </a:solidFill>
                <a:latin typeface="Calibri"/>
              </a:defRPr>
            </a:pPr>
            <a:r>
              <a:t>No transactions for 7+ days + social silence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599432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F476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02352"/>
            <a:ext cx="22860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VOLUME_ANOMALY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102352"/>
            <a:ext cx="5486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0C8D4"/>
                </a:solidFill>
                <a:latin typeface="Calibri"/>
              </a:defRPr>
            </a:pPr>
            <a:r>
              <a:t>Volume &gt;5x the 7-day average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102352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D166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532120"/>
            <a:ext cx="10515600" cy="502920"/>
          </a:xfrm>
          <a:prstGeom prst="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05272"/>
            <a:ext cx="22860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SCORE_FREEFALL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605272"/>
            <a:ext cx="5486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C0C8D4"/>
                </a:solidFill>
                <a:latin typeface="Calibri"/>
              </a:defRPr>
            </a:pPr>
            <a:r>
              <a:t>Trust score drops &gt;20 points in one 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605272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EF476F"/>
                </a:solidFill>
                <a:latin typeface="Calibri"/>
              </a:defRPr>
            </a:pPr>
            <a:r>
              <a:t>HIGH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D6A0"/>
                </a:solidFill>
                <a:latin typeface="Calibri"/>
              </a:defRPr>
            </a:pPr>
            <a:r>
              <a:t>LIVE DATA — SCAN #001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First ecosystem scan: real scores, real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057400"/>
            <a:ext cx="7315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VTS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57400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Risk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57400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Market 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57400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Liquidity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057400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Holders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10515600" cy="594360"/>
          </a:xfrm>
          <a:prstGeom prst="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7860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Luna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78608"/>
            <a:ext cx="7315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D6A0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7860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06D6A0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57860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$5.73M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57860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$1.6M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7860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454K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7296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AIXBT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172968"/>
            <a:ext cx="7315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D166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17296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D166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17296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$22.75M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17296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$4.7K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7296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415K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10515600" cy="594360"/>
          </a:xfrm>
          <a:prstGeom prst="rect">
            <a:avLst/>
          </a:prstGeom>
          <a:solidFill>
            <a:srgbClr val="141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76732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VIRTUAL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767328"/>
            <a:ext cx="7315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D166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76732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D166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76732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$422.98M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6732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$15K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76732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1M+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6168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361688"/>
            <a:ext cx="7315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D166"/>
                </a:solidFill>
                <a:latin typeface="Calibri"/>
              </a:defRPr>
            </a:pPr>
            <a:r>
              <a:t>70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36168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D166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36168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$8.84M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36168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$426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361688"/>
            <a:ext cx="1371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283K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754880"/>
            <a:ext cx="10515600" cy="73152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4754880"/>
            <a:ext cx="54864" cy="7315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892040"/>
            <a:ext cx="91440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EF476F"/>
                </a:solidFill>
                <a:latin typeface="Calibri"/>
              </a:defRPr>
            </a:pPr>
            <a:r>
              <a:t>FLAG: GAME liquidity at $426 — critically thin. Single large sell could collapse the pool.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15A77"/>
                </a:solidFill>
                <a:latin typeface="Calibri"/>
              </a:defRPr>
            </a:pPr>
            <a:r>
              <a:t>Data collected live from DexScreener + Basescan  |  March 29,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Four revenue streams. All tied to core function.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13716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3200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B4D8"/>
                </a:solidFill>
                <a:latin typeface="Calibri"/>
              </a:defRPr>
            </a:pPr>
            <a:r>
              <a:t>ACP Trust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240280"/>
            <a:ext cx="164592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4"/>
                </a:solidFill>
                <a:latin typeface="Calibri"/>
              </a:defRPr>
            </a:pPr>
            <a:r>
              <a:t>Agent-to-Agent B2B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389120" cy="6400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Agents pay per-query to check counterparty trust before entering ACP escrow. 80% to VIGIL, 20% to protocol.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029200" cy="13716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02920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3200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6D6A0"/>
                </a:solidFill>
                <a:latin typeface="Calibri"/>
              </a:defRPr>
            </a:pPr>
            <a:r>
              <a:t>Premium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2240280"/>
            <a:ext cx="164592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4"/>
                </a:solidFill>
                <a:latin typeface="Calibri"/>
              </a:defRPr>
            </a:pPr>
            <a:r>
              <a:t>Token-Gated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4389120" cy="6400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$VIGIL holders get real-time Telegram alerts with deep trust queries and recommended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029200" cy="13716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502920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3200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D166"/>
                </a:solidFill>
                <a:latin typeface="Calibri"/>
              </a:defRPr>
            </a:pPr>
            <a:r>
              <a:t>Evaluator Fees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886200"/>
            <a:ext cx="164592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4"/>
                </a:solidFill>
                <a:latin typeface="Calibri"/>
              </a:defRPr>
            </a:pPr>
            <a:r>
              <a:t>Per-Evaluation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97680"/>
            <a:ext cx="4389120" cy="6400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VIGIL serves as ACP evaluator, earning fees for assessing transaction quality between agents.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57600"/>
            <a:ext cx="5029200" cy="13716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5029200" cy="4572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80"/>
            <a:ext cx="32004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415A77"/>
                </a:solidFill>
                <a:latin typeface="Calibri"/>
              </a:defRPr>
            </a:pPr>
            <a:r>
              <a:t>Data Licensing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886200"/>
            <a:ext cx="164592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AA5B4"/>
                </a:solidFill>
                <a:latin typeface="Calibri"/>
              </a:defRPr>
            </a:pPr>
            <a:r>
              <a:t>Subscription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97680"/>
            <a:ext cx="4389120" cy="64008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Ecosystem health metrics and risk data available via subscription to protocols and DAOs.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Three compounding advantages.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00400" cy="32004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00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560320" cy="8229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B4D8"/>
                </a:solidFill>
                <a:latin typeface="Calibri"/>
              </a:defRPr>
            </a:pPr>
            <a:r>
              <a:t>First-Mover</a:t>
            </a:r>
            <a:br/>
            <a:r>
              <a:t>Network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2560320" cy="1645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First comprehensive trust scorer becomes the default. More coverage generates better data, better scores, more queries, more data. Compounding flywheel.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00400" cy="32004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200400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286000"/>
            <a:ext cx="2560320" cy="8229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6D6A0"/>
                </a:solidFill>
                <a:latin typeface="Calibri"/>
              </a:defRPr>
            </a:pPr>
            <a:r>
              <a:t>Data</a:t>
            </a:r>
            <a:br/>
            <a:r>
              <a:t>Gravity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291840"/>
            <a:ext cx="2560320" cy="1645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Historical behavioral data on every agent from day one. This longitudinal dataset cannot be replicated by latecomers. Time is an unreplicable asset.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00400" cy="32004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011680"/>
            <a:ext cx="3200400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2560320" cy="8229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D166"/>
                </a:solidFill>
                <a:latin typeface="Calibri"/>
              </a:defRPr>
            </a:pPr>
            <a:r>
              <a:t>Credible</a:t>
            </a:r>
            <a:br/>
            <a:r>
              <a:t>Neutrality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91840"/>
            <a:ext cx="2560320" cy="1645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C0C8D4"/>
                </a:solidFill>
                <a:latin typeface="Calibri"/>
              </a:defRPr>
            </a:pPr>
            <a:r>
              <a:t>No partnerships, no paid promotions, no conflicts. Scores are derived exclusively from onchain data. A biased trust scorer is worthless.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From foundation to ecosystem standard.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515600" cy="27432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1828800"/>
            <a:ext cx="182880" cy="1828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46888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B4D8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468880" cy="265176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24688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0116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011680" cy="1645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Core scoring engine</a:t>
            </a:r>
            <a:br/>
            <a:r>
              <a:t>Anomaly detection</a:t>
            </a:r>
            <a:br/>
            <a:r>
              <a:t>$VIGIL token launch</a:t>
            </a:r>
            <a:br/>
            <a:r>
              <a:t>First live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201168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0B4D8"/>
                </a:solidFill>
                <a:latin typeface="Calibri"/>
              </a:defRPr>
            </a:pPr>
            <a:r>
              <a:t>WE ARE HERE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1828800"/>
            <a:ext cx="182880" cy="1828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46888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6D6A0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560320"/>
            <a:ext cx="2468880" cy="265176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743200"/>
            <a:ext cx="20116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200400"/>
            <a:ext cx="2011680" cy="1645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ACP trust queries</a:t>
            </a:r>
            <a:br/>
            <a:r>
              <a:t>Premium Telegram</a:t>
            </a:r>
            <a:br/>
            <a:r>
              <a:t>Agent autopsies</a:t>
            </a:r>
            <a:br/>
            <a:r>
              <a:t>Full ecosystem coverage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1828800"/>
            <a:ext cx="182880" cy="1828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246888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FD166"/>
                </a:solidFill>
                <a:latin typeface="Calibri"/>
              </a:defRPr>
            </a:pPr>
            <a:r>
              <a:t>Q3-Q4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560320"/>
            <a:ext cx="2468880" cy="265176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20116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00400"/>
            <a:ext cx="2011680" cy="1645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Cross-protocol expansion</a:t>
            </a:r>
            <a:br/>
            <a:r>
              <a:t>ML rug detection</a:t>
            </a:r>
            <a:br/>
            <a:r>
              <a:t>API access</a:t>
            </a:r>
            <a:br/>
            <a:r>
              <a:t>Data licensing</a:t>
            </a:r>
          </a:p>
        </p:txBody>
      </p:sp>
      <p:sp>
        <p:nvSpPr>
          <p:cNvPr id="22" name="Oval 21"/>
          <p:cNvSpPr/>
          <p:nvPr/>
        </p:nvSpPr>
        <p:spPr>
          <a:xfrm>
            <a:off x="10195560" y="1828800"/>
            <a:ext cx="182880" cy="1828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194560"/>
            <a:ext cx="246888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415A77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560320"/>
            <a:ext cx="2468880" cy="265176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743200"/>
            <a:ext cx="201168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200400"/>
            <a:ext cx="2011680" cy="16459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AA5B4"/>
                </a:solidFill>
                <a:latin typeface="Calibri"/>
              </a:defRPr>
            </a:pPr>
            <a:r>
              <a:t>Multi-chain trust layer</a:t>
            </a:r>
            <a:br/>
            <a:r>
              <a:t>Insurance integrations</a:t>
            </a:r>
            <a:br/>
            <a:r>
              <a:t>Decentralized scoring</a:t>
            </a:r>
            <a:br/>
            <a:r>
              <a:t>Identity portability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$VIGIL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Skin in the game. Aligned incentives.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36576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6459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A5B4"/>
                </a:solidFill>
                <a:latin typeface="Calibri"/>
              </a:defRPr>
            </a:pPr>
            <a:r>
              <a:t>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286000"/>
            <a:ext cx="25603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$VIGIL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16459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A5B4"/>
                </a:solidFill>
                <a:latin typeface="Calibri"/>
              </a:defRPr>
            </a:pPr>
            <a:r>
              <a:t>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834640"/>
            <a:ext cx="25603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Base (Ethereum L2)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16459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A5B4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383280"/>
            <a:ext cx="25603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Virtuals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6459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A5B4"/>
                </a:solidFill>
                <a:latin typeface="Calibri"/>
              </a:defRPr>
            </a:pPr>
            <a:r>
              <a:t>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931920"/>
            <a:ext cx="25603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0xFe19...3BA6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16459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AA5B4"/>
                </a:solidFill>
                <a:latin typeface="Calibri"/>
              </a:defRPr>
            </a:pPr>
            <a:r>
              <a:t>Agent Wallet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480560"/>
            <a:ext cx="25603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0x6430...c95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5029200" cy="365760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50292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286000"/>
            <a:ext cx="438912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B4D8"/>
                </a:solidFill>
                <a:latin typeface="Calibri"/>
              </a:defRPr>
            </a:pPr>
            <a:r>
              <a:t>Value Accrual Flywheel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34640"/>
            <a:ext cx="27432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834640"/>
            <a:ext cx="36576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More agents = more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46120"/>
            <a:ext cx="27432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D6A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246120"/>
            <a:ext cx="36576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More data = better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657600"/>
            <a:ext cx="27432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657600"/>
            <a:ext cx="36576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Better scores = more ACP 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69080"/>
            <a:ext cx="27432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D6A0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069080"/>
            <a:ext cx="36576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More queries = more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480560"/>
            <a:ext cx="27432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B4D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480560"/>
            <a:ext cx="36576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More revenue = buyback &amp; burn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892040"/>
            <a:ext cx="27432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6D6A0"/>
                </a:solidFill>
                <a:latin typeface="Calibri"/>
              </a:defRPr>
            </a:pPr>
            <a:r>
              <a:t>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892040"/>
            <a:ext cx="3657600" cy="3200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0C8D4"/>
                </a:solidFill>
                <a:latin typeface="Calibri"/>
              </a:defRPr>
            </a:pPr>
            <a:r>
              <a:t>Burn = deflationary pressure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52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400" b="1" i="0">
                <a:solidFill>
                  <a:srgbClr val="FFFFFF"/>
                </a:solidFill>
                <a:latin typeface="Calibri"/>
              </a:defRPr>
            </a:pPr>
            <a:r>
              <a:t>VIGIL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00B4D8"/>
                </a:solidFill>
                <a:latin typeface="Calibri"/>
              </a:defRPr>
            </a:pPr>
            <a:r>
              <a:t>Trust intelligence for the agent economy.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778DA9"/>
                </a:solidFill>
                <a:latin typeface="Calibri"/>
              </a:defRPr>
            </a:pPr>
            <a:r>
              <a:t>"Trust is not declared — it is observed."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A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415A77"/>
                </a:solidFill>
                <a:latin typeface="Calibri"/>
              </a:defRPr>
            </a:pPr>
            <a:r>
              <a:t>X: @VIGIL_Trust   |   $VIGIL on Virtuals Protocol   |   Base 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</p:spPr>
        <p:txBody a:anchor="t"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15A77"/>
                </a:solidFill>
                <a:latin typeface="Calibri"/>
              </a:defRPr>
            </a:pPr>
            <a:r>
              <a:t>CA: 0xFe19FEfC9B05d1a52e95C3d2a4daD0448C8f3BA6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